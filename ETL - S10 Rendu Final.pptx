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chivo Black" charset="1" panose="020B0A03020202020B04"/>
      <p:regular r:id="rId22"/>
    </p:embeddedFont>
    <p:embeddedFont>
      <p:font typeface="Poppins" charset="1" panose="00000500000000000000"/>
      <p:regular r:id="rId23"/>
    </p:embeddedFont>
    <p:embeddedFont>
      <p:font typeface="Canva Sans" charset="1" panose="020B0503030501040103"/>
      <p:regular r:id="rId24"/>
    </p:embeddedFont>
    <p:embeddedFont>
      <p:font typeface="Poppins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70222" y="2885431"/>
            <a:ext cx="14430051" cy="379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888"/>
              </a:lnSpc>
            </a:pPr>
            <a:r>
              <a:rPr lang="en-US" sz="9600" spc="-7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PRÉSENTATION</a:t>
            </a:r>
          </a:p>
          <a:p>
            <a:pPr algn="just">
              <a:lnSpc>
                <a:spcPts val="9888"/>
              </a:lnSpc>
            </a:pPr>
            <a:r>
              <a:rPr lang="en-US" sz="9600" spc="-7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FINALE</a:t>
            </a:r>
          </a:p>
          <a:p>
            <a:pPr algn="just" marL="0" indent="0" lvl="0">
              <a:lnSpc>
                <a:spcPts val="9888"/>
              </a:lnSpc>
            </a:pPr>
            <a:r>
              <a:rPr lang="en-US" sz="9600" spc="-7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ETL - TALEND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29249" y="6824236"/>
            <a:ext cx="14311996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  <a:spcBef>
                <a:spcPct val="0"/>
              </a:spcBef>
            </a:pPr>
            <a:r>
              <a:rPr lang="en-US" sz="4200" spc="-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LEROY Thomas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95400"/>
            <a:ext cx="14430051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60"/>
              </a:lnSpc>
              <a:spcBef>
                <a:spcPct val="0"/>
              </a:spcBef>
            </a:pPr>
            <a:r>
              <a:rPr lang="en-US" sz="7000" spc="-55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SOMMAIRE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17745"/>
            <a:ext cx="13231413" cy="6673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6678"/>
              </a:lnSpc>
              <a:buFont typeface="Arial"/>
              <a:buChar char="•"/>
            </a:pPr>
            <a:r>
              <a:rPr lang="en-US" sz="4200" spc="-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Résumé du besoin</a:t>
            </a:r>
          </a:p>
          <a:p>
            <a:pPr algn="l" marL="906780" indent="-453390" lvl="1">
              <a:lnSpc>
                <a:spcPts val="6678"/>
              </a:lnSpc>
              <a:buFont typeface="Arial"/>
              <a:buChar char="•"/>
            </a:pPr>
            <a:r>
              <a:rPr lang="en-US" sz="4200" spc="-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Diagramme</a:t>
            </a:r>
          </a:p>
          <a:p>
            <a:pPr algn="l" marL="906780" indent="-453390" lvl="1">
              <a:lnSpc>
                <a:spcPts val="6678"/>
              </a:lnSpc>
              <a:buFont typeface="Arial"/>
              <a:buChar char="•"/>
            </a:pPr>
            <a:r>
              <a:rPr lang="en-US" sz="4200" spc="-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Outils utilisés</a:t>
            </a:r>
          </a:p>
          <a:p>
            <a:pPr algn="l" marL="906780" indent="-453390" lvl="1">
              <a:lnSpc>
                <a:spcPts val="6678"/>
              </a:lnSpc>
              <a:buFont typeface="Arial"/>
              <a:buChar char="•"/>
            </a:pPr>
            <a:r>
              <a:rPr lang="en-US" sz="4200" spc="-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Pipeline</a:t>
            </a:r>
          </a:p>
          <a:p>
            <a:pPr algn="l" marL="906780" indent="-453390" lvl="1">
              <a:lnSpc>
                <a:spcPts val="6678"/>
              </a:lnSpc>
              <a:buFont typeface="Arial"/>
              <a:buChar char="•"/>
            </a:pPr>
            <a:r>
              <a:rPr lang="en-US" sz="4200" spc="-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Présentation et vulgarisation des sous jobs (Talend)</a:t>
            </a:r>
          </a:p>
          <a:p>
            <a:pPr algn="l" marL="906780" indent="-453390" lvl="1">
              <a:lnSpc>
                <a:spcPts val="6678"/>
              </a:lnSpc>
              <a:buFont typeface="Arial"/>
              <a:buChar char="•"/>
            </a:pPr>
            <a:r>
              <a:rPr lang="en-US" sz="4200" spc="-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 résumé : Documents fournis</a:t>
            </a:r>
          </a:p>
          <a:p>
            <a:pPr algn="l" marL="906780" indent="-453390" lvl="1">
              <a:lnSpc>
                <a:spcPts val="6678"/>
              </a:lnSpc>
              <a:buFont typeface="Arial"/>
              <a:buChar char="•"/>
            </a:pPr>
            <a:r>
              <a:rPr lang="en-US" sz="4200" spc="-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Points d'améliorations</a:t>
            </a:r>
          </a:p>
          <a:p>
            <a:pPr algn="just">
              <a:lnSpc>
                <a:spcPts val="525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95400"/>
            <a:ext cx="14430051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60"/>
              </a:lnSpc>
              <a:spcBef>
                <a:spcPct val="0"/>
              </a:spcBef>
            </a:pPr>
            <a:r>
              <a:rPr lang="en-US" sz="7000" spc="-55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RÉSUMÉ DE LA MISSION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93084"/>
            <a:ext cx="14776064" cy="413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 spc="-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Travail pour une entreprise de vente en ligne qui souhaite centraliser ses données pour améliorer son pilotage. Plusieurs systèmes opérationnels (Site Ecommerce ; ERP ; CRM) coexistent sans communication entre eux</a:t>
            </a:r>
          </a:p>
          <a:p>
            <a:pPr algn="just">
              <a:lnSpc>
                <a:spcPts val="525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37809" y="2160265"/>
            <a:ext cx="10470457" cy="7630346"/>
          </a:xfrm>
          <a:custGeom>
            <a:avLst/>
            <a:gdLst/>
            <a:ahLst/>
            <a:cxnLst/>
            <a:rect r="r" b="b" t="t" l="l"/>
            <a:pathLst>
              <a:path h="7630346" w="10470457">
                <a:moveTo>
                  <a:pt x="0" y="0"/>
                </a:moveTo>
                <a:lnTo>
                  <a:pt x="10470457" y="0"/>
                </a:lnTo>
                <a:lnTo>
                  <a:pt x="10470457" y="7630345"/>
                </a:lnTo>
                <a:lnTo>
                  <a:pt x="0" y="7630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701667" y="4435221"/>
            <a:ext cx="2200003" cy="2847790"/>
            <a:chOff x="0" y="0"/>
            <a:chExt cx="695828" cy="9007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5828" cy="900714"/>
            </a:xfrm>
            <a:custGeom>
              <a:avLst/>
              <a:gdLst/>
              <a:ahLst/>
              <a:cxnLst/>
              <a:rect r="r" b="b" t="t" l="l"/>
              <a:pathLst>
                <a:path h="900714" w="695828">
                  <a:moveTo>
                    <a:pt x="0" y="0"/>
                  </a:moveTo>
                  <a:lnTo>
                    <a:pt x="695828" y="0"/>
                  </a:lnTo>
                  <a:lnTo>
                    <a:pt x="695828" y="900714"/>
                  </a:lnTo>
                  <a:lnTo>
                    <a:pt x="0" y="900714"/>
                  </a:lnTo>
                  <a:close/>
                </a:path>
              </a:pathLst>
            </a:custGeom>
            <a:solidFill>
              <a:srgbClr val="CACAC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95828" cy="938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Transformations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870566"/>
            <a:ext cx="1725930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60"/>
              </a:lnSpc>
              <a:spcBef>
                <a:spcPct val="0"/>
              </a:spcBef>
            </a:pPr>
            <a:r>
              <a:rPr lang="en-US" sz="7000" spc="-55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DIAGRAMME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372196"/>
            <a:ext cx="2705366" cy="2695599"/>
          </a:xfrm>
          <a:custGeom>
            <a:avLst/>
            <a:gdLst/>
            <a:ahLst/>
            <a:cxnLst/>
            <a:rect r="r" b="b" t="t" l="l"/>
            <a:pathLst>
              <a:path h="2695599" w="2705366">
                <a:moveTo>
                  <a:pt x="0" y="0"/>
                </a:moveTo>
                <a:lnTo>
                  <a:pt x="2705366" y="0"/>
                </a:lnTo>
                <a:lnTo>
                  <a:pt x="2705366" y="2695599"/>
                </a:lnTo>
                <a:lnTo>
                  <a:pt x="0" y="26955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55463" y="4372196"/>
            <a:ext cx="2691564" cy="2695599"/>
          </a:xfrm>
          <a:custGeom>
            <a:avLst/>
            <a:gdLst/>
            <a:ahLst/>
            <a:cxnLst/>
            <a:rect r="r" b="b" t="t" l="l"/>
            <a:pathLst>
              <a:path h="2695599" w="2691564">
                <a:moveTo>
                  <a:pt x="0" y="0"/>
                </a:moveTo>
                <a:lnTo>
                  <a:pt x="2691564" y="0"/>
                </a:lnTo>
                <a:lnTo>
                  <a:pt x="2691564" y="2695599"/>
                </a:lnTo>
                <a:lnTo>
                  <a:pt x="0" y="26955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91481" y="4294346"/>
            <a:ext cx="4831841" cy="2851298"/>
          </a:xfrm>
          <a:custGeom>
            <a:avLst/>
            <a:gdLst/>
            <a:ahLst/>
            <a:cxnLst/>
            <a:rect r="r" b="b" t="t" l="l"/>
            <a:pathLst>
              <a:path h="2851298" w="4831841">
                <a:moveTo>
                  <a:pt x="0" y="0"/>
                </a:moveTo>
                <a:lnTo>
                  <a:pt x="4831840" y="0"/>
                </a:lnTo>
                <a:lnTo>
                  <a:pt x="4831840" y="2851298"/>
                </a:lnTo>
                <a:lnTo>
                  <a:pt x="0" y="28512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09027" y="3397693"/>
            <a:ext cx="4423976" cy="4416005"/>
          </a:xfrm>
          <a:custGeom>
            <a:avLst/>
            <a:gdLst/>
            <a:ahLst/>
            <a:cxnLst/>
            <a:rect r="r" b="b" t="t" l="l"/>
            <a:pathLst>
              <a:path h="4416005" w="4423976">
                <a:moveTo>
                  <a:pt x="0" y="0"/>
                </a:moveTo>
                <a:lnTo>
                  <a:pt x="4423976" y="0"/>
                </a:lnTo>
                <a:lnTo>
                  <a:pt x="4423976" y="4416005"/>
                </a:lnTo>
                <a:lnTo>
                  <a:pt x="0" y="44160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95400"/>
            <a:ext cx="14430051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60"/>
              </a:lnSpc>
              <a:spcBef>
                <a:spcPct val="0"/>
              </a:spcBef>
            </a:pPr>
            <a:r>
              <a:rPr lang="en-US" sz="7000" spc="-55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TECHNOLOGIES UTILISÉES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39092" y="1875705"/>
            <a:ext cx="10609815" cy="8108703"/>
          </a:xfrm>
          <a:custGeom>
            <a:avLst/>
            <a:gdLst/>
            <a:ahLst/>
            <a:cxnLst/>
            <a:rect r="r" b="b" t="t" l="l"/>
            <a:pathLst>
              <a:path h="8108703" w="10609815">
                <a:moveTo>
                  <a:pt x="0" y="0"/>
                </a:moveTo>
                <a:lnTo>
                  <a:pt x="10609816" y="0"/>
                </a:lnTo>
                <a:lnTo>
                  <a:pt x="10609816" y="8108703"/>
                </a:lnTo>
                <a:lnTo>
                  <a:pt x="0" y="8108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70566"/>
            <a:ext cx="1725930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60"/>
              </a:lnSpc>
              <a:spcBef>
                <a:spcPct val="0"/>
              </a:spcBef>
            </a:pPr>
            <a:r>
              <a:rPr lang="en-US" sz="7000" spc="-55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PIPELINE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347063"/>
            <a:ext cx="8804817" cy="280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5"/>
              </a:lnSpc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Problématique :</a:t>
            </a:r>
          </a:p>
          <a:p>
            <a:pPr algn="l" marL="755654" indent="-377827" lvl="1">
              <a:lnSpc>
                <a:spcPts val="5565"/>
              </a:lnSpc>
              <a:buFont typeface="Arial"/>
              <a:buChar char="•"/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Revenu annuel avec caractères non pris en compte (â‚¬) ; espaces et valeurs vides</a:t>
            </a:r>
          </a:p>
          <a:p>
            <a:pPr algn="l" marL="755654" indent="-377827" lvl="1">
              <a:lnSpc>
                <a:spcPts val="5565"/>
              </a:lnSpc>
              <a:buFont typeface="Arial"/>
              <a:buChar char="•"/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Lignes en doublon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70566"/>
            <a:ext cx="1725930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60"/>
              </a:lnSpc>
              <a:spcBef>
                <a:spcPct val="0"/>
              </a:spcBef>
            </a:pPr>
            <a:r>
              <a:rPr lang="en-US" sz="7000" spc="-55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SOUS-JOB 1 : TRAITEMENT CRM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9516"/>
            <a:ext cx="13231413" cy="83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 spc="-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Fichier source : Fichier CSV - crm.csv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391067" y="3898436"/>
          <a:ext cx="7315200" cy="3867150"/>
        </p:xfrm>
        <a:graphic>
          <a:graphicData uri="http://schemas.openxmlformats.org/drawingml/2006/table">
            <a:tbl>
              <a:tblPr/>
              <a:tblGrid>
                <a:gridCol w="2342354"/>
                <a:gridCol w="2214293"/>
                <a:gridCol w="2758552"/>
              </a:tblGrid>
              <a:tr h="7792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nom_client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revenu_annuel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9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Client_1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01/01/2020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436.86â‚¬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9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Client_2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01/05/2023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936.86â‚¬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9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Client_1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03/11/2025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560.40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266637"/>
            <a:ext cx="12451755" cy="2991663"/>
          </a:xfrm>
          <a:custGeom>
            <a:avLst/>
            <a:gdLst/>
            <a:ahLst/>
            <a:cxnLst/>
            <a:rect r="r" b="b" t="t" l="l"/>
            <a:pathLst>
              <a:path h="2991663" w="12451755">
                <a:moveTo>
                  <a:pt x="0" y="0"/>
                </a:moveTo>
                <a:lnTo>
                  <a:pt x="12451755" y="0"/>
                </a:lnTo>
                <a:lnTo>
                  <a:pt x="12451755" y="2991663"/>
                </a:lnTo>
                <a:lnTo>
                  <a:pt x="0" y="2991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86" r="0" b="-98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70566"/>
            <a:ext cx="1725930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60"/>
              </a:lnSpc>
              <a:spcBef>
                <a:spcPct val="0"/>
              </a:spcBef>
            </a:pPr>
            <a:r>
              <a:rPr lang="en-US" sz="7000" spc="-55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SOUS-JOB 1 : TRAITEMENT CRM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792501"/>
            <a:ext cx="13231413" cy="83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 spc="-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Détail des transformations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664571"/>
            <a:ext cx="16002231" cy="139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5"/>
              </a:lnSpc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Réception du document → Suppression des doublons (tUniqueRow) → Suppression des valeurs faussées (tReplace) → Gestion des valeurs nulles (tMap)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494151"/>
            <a:ext cx="13231413" cy="280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5"/>
              </a:lnSpc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Problématiques :</a:t>
            </a:r>
          </a:p>
          <a:p>
            <a:pPr algn="l" marL="755654" indent="-377827" lvl="1">
              <a:lnSpc>
                <a:spcPts val="5565"/>
              </a:lnSpc>
              <a:buFont typeface="Arial"/>
              <a:buChar char="•"/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Villes avec une valeur Null</a:t>
            </a:r>
          </a:p>
          <a:p>
            <a:pPr algn="l" marL="755654" indent="-377827" lvl="1">
              <a:lnSpc>
                <a:spcPts val="5565"/>
              </a:lnSpc>
              <a:buFont typeface="Arial"/>
              <a:buChar char="•"/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Dates au format “yyyy-MM-dd”</a:t>
            </a:r>
          </a:p>
          <a:p>
            <a:pPr algn="l" marL="755654" indent="-377827" lvl="1">
              <a:lnSpc>
                <a:spcPts val="5565"/>
              </a:lnSpc>
              <a:buFont typeface="Arial"/>
              <a:buChar char="•"/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Identifiant client différent du CRM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70566"/>
            <a:ext cx="1725930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60"/>
              </a:lnSpc>
              <a:spcBef>
                <a:spcPct val="0"/>
              </a:spcBef>
            </a:pPr>
            <a:r>
              <a:rPr lang="en-US" sz="7000" spc="-55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SOUS-JOB 2 : TRAITEMENT ERP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99516"/>
            <a:ext cx="13231413" cy="83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 spc="-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Fichier source : Fichier CSV - erp.csv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31825" y="3353590"/>
          <a:ext cx="7315200" cy="3867150"/>
        </p:xfrm>
        <a:graphic>
          <a:graphicData uri="http://schemas.openxmlformats.org/drawingml/2006/table">
            <a:tbl>
              <a:tblPr/>
              <a:tblGrid>
                <a:gridCol w="3760394"/>
                <a:gridCol w="3554806"/>
              </a:tblGrid>
              <a:tr h="7792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Villes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9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Toulouse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2020-01-01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9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2023-04-26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9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Paris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2024-11-11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5867400"/>
            <a:ext cx="11301259" cy="2359138"/>
          </a:xfrm>
          <a:custGeom>
            <a:avLst/>
            <a:gdLst/>
            <a:ahLst/>
            <a:cxnLst/>
            <a:rect r="r" b="b" t="t" l="l"/>
            <a:pathLst>
              <a:path h="2359138" w="11301259">
                <a:moveTo>
                  <a:pt x="0" y="0"/>
                </a:moveTo>
                <a:lnTo>
                  <a:pt x="11301258" y="0"/>
                </a:lnTo>
                <a:lnTo>
                  <a:pt x="11301258" y="2359138"/>
                </a:lnTo>
                <a:lnTo>
                  <a:pt x="0" y="2359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70566"/>
            <a:ext cx="14201845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60"/>
              </a:lnSpc>
              <a:spcBef>
                <a:spcPct val="0"/>
              </a:spcBef>
            </a:pPr>
            <a:r>
              <a:rPr lang="en-US" sz="7000" spc="-55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SOUS-JOB 2 : TRAITEMENT ERP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89894"/>
            <a:ext cx="13231413" cy="69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5"/>
              </a:lnSpc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Détail des transformations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745231"/>
            <a:ext cx="16002231" cy="139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5"/>
              </a:lnSpc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Réception du document → Gestion des valeurs nulles + format des dates (tMap) → Suppression des valeurs faussées (tReplace) → Gestion des valeurs nulles (tMap)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32855" y="8830628"/>
            <a:ext cx="8422291" cy="69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5"/>
              </a:lnSpc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(Gestion des id_clients reporté à plus tard)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9882" y="3895524"/>
            <a:ext cx="13231413" cy="3512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5"/>
              </a:lnSpc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Problématiques :</a:t>
            </a:r>
          </a:p>
          <a:p>
            <a:pPr algn="l" marL="755654" indent="-377827" lvl="1">
              <a:lnSpc>
                <a:spcPts val="5565"/>
              </a:lnSpc>
              <a:buFont typeface="Arial"/>
              <a:buChar char="•"/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Dates au format “dd-MM-yyyy”</a:t>
            </a:r>
          </a:p>
          <a:p>
            <a:pPr algn="l" marL="755654" indent="-377827" lvl="1">
              <a:lnSpc>
                <a:spcPts val="5565"/>
              </a:lnSpc>
              <a:buFont typeface="Arial"/>
              <a:buChar char="•"/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Identifiant client différent du CRM</a:t>
            </a:r>
          </a:p>
          <a:p>
            <a:pPr algn="l" marL="755654" indent="-377827" lvl="1">
              <a:lnSpc>
                <a:spcPts val="5565"/>
              </a:lnSpc>
              <a:buFont typeface="Arial"/>
              <a:buChar char="•"/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Total_spend avec valeur faussée (â‚¬)</a:t>
            </a:r>
          </a:p>
          <a:p>
            <a:pPr algn="l" marL="755654" indent="-377827" lvl="1">
              <a:lnSpc>
                <a:spcPts val="5565"/>
              </a:lnSpc>
              <a:buFont typeface="Arial"/>
              <a:buChar char="•"/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Newsletter_optin parfois vide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645855" y="3675496"/>
          <a:ext cx="7315200" cy="4114800"/>
        </p:xfrm>
        <a:graphic>
          <a:graphicData uri="http://schemas.openxmlformats.org/drawingml/2006/table">
            <a:tbl>
              <a:tblPr/>
              <a:tblGrid>
                <a:gridCol w="2342354"/>
                <a:gridCol w="2822583"/>
                <a:gridCol w="2150263"/>
              </a:tblGrid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purchase_date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newsletter_optin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total_spent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01-01-2020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436.86â‚¬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01-02-2024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936.86â‚¬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01-04-2025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560.40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59882" y="870566"/>
            <a:ext cx="17928118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60"/>
              </a:lnSpc>
              <a:spcBef>
                <a:spcPct val="0"/>
              </a:spcBef>
            </a:pPr>
            <a:r>
              <a:rPr lang="en-US" sz="7000" spc="-55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SOUS-JOB 3 : TRAITEMENT ECOMMERCE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9882" y="1919895"/>
            <a:ext cx="13231413" cy="83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8"/>
              </a:lnSpc>
            </a:pPr>
            <a:r>
              <a:rPr lang="en-US" sz="4200" spc="-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Fichier source : Fichier CSV - ecommerce.csv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155485"/>
            <a:ext cx="16899418" cy="69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5"/>
              </a:lnSpc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Liste des transformations 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869159" y="6349805"/>
            <a:ext cx="14549682" cy="2637130"/>
          </a:xfrm>
          <a:custGeom>
            <a:avLst/>
            <a:gdLst/>
            <a:ahLst/>
            <a:cxnLst/>
            <a:rect r="r" b="b" t="t" l="l"/>
            <a:pathLst>
              <a:path h="2637130" w="14549682">
                <a:moveTo>
                  <a:pt x="0" y="0"/>
                </a:moveTo>
                <a:lnTo>
                  <a:pt x="14549682" y="0"/>
                </a:lnTo>
                <a:lnTo>
                  <a:pt x="14549682" y="2637130"/>
                </a:lnTo>
                <a:lnTo>
                  <a:pt x="0" y="26371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9882" y="870566"/>
            <a:ext cx="17928118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60"/>
              </a:lnSpc>
              <a:spcBef>
                <a:spcPct val="0"/>
              </a:spcBef>
            </a:pPr>
            <a:r>
              <a:rPr lang="en-US" sz="7000" spc="-55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SOUS-JOB 3 : TRAITEMENT ECOMMERCE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48619"/>
            <a:ext cx="16230600" cy="2103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5"/>
              </a:lnSpc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Réception du document → Remplacement des valeurs faussées (tReplace) → Passage des dates au format “dd/MM/yyyy” + Définition d’une valeur par défaut pour la newsletter (tMap)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5445523"/>
            <a:ext cx="11301259" cy="2994834"/>
          </a:xfrm>
          <a:custGeom>
            <a:avLst/>
            <a:gdLst/>
            <a:ahLst/>
            <a:cxnLst/>
            <a:rect r="r" b="b" t="t" l="l"/>
            <a:pathLst>
              <a:path h="2994834" w="11301259">
                <a:moveTo>
                  <a:pt x="0" y="0"/>
                </a:moveTo>
                <a:lnTo>
                  <a:pt x="11301258" y="0"/>
                </a:lnTo>
                <a:lnTo>
                  <a:pt x="11301258" y="2994833"/>
                </a:lnTo>
                <a:lnTo>
                  <a:pt x="0" y="299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999319" y="3831144"/>
            <a:ext cx="6936481" cy="693648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0"/>
                  </a:moveTo>
                  <a:lnTo>
                    <a:pt x="0" y="0"/>
                  </a:lnTo>
                  <a:lnTo>
                    <a:pt x="0" y="812800"/>
                  </a:lnTo>
                  <a:lnTo>
                    <a:pt x="812800" y="81280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81100" y="2915824"/>
            <a:ext cx="16899418" cy="2103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5"/>
              </a:lnSpc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Réceptionner les valeurs des tables SQL → Relier toutes les tables entre elles en laissant le moins de valeur nulles possibles (MySQL) → Traiter les dernières valeurs nulles avec des valeurs par défaut (tMap) → Exporter le tableau finalisé dans la base de données (MySQL)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70566"/>
            <a:ext cx="1725930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60"/>
              </a:lnSpc>
              <a:spcBef>
                <a:spcPct val="0"/>
              </a:spcBef>
            </a:pPr>
            <a:r>
              <a:rPr lang="en-US" sz="7000" spc="-55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SOUS-JOB 4 : TRAITEMENT FINAL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1100" y="2210994"/>
            <a:ext cx="16899418" cy="69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5"/>
              </a:lnSpc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Liste des transformations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1863" y="9031605"/>
            <a:ext cx="1347251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18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POUR FINIR : </a:t>
            </a:r>
            <a:r>
              <a:rPr lang="en-US" sz="2400" spc="-18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DÉCLENCHER LE TRAITEMENT FINAL APRÈS LES 3 PREMIERS TRAITEMENTS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70566"/>
            <a:ext cx="1725930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60"/>
              </a:lnSpc>
              <a:spcBef>
                <a:spcPct val="0"/>
              </a:spcBef>
            </a:pPr>
            <a:r>
              <a:rPr lang="en-US" sz="7000" spc="-55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POINTS D’AMÉLIORATION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58594"/>
            <a:ext cx="16899418" cy="280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4" indent="-377827" lvl="1">
              <a:lnSpc>
                <a:spcPts val="5565"/>
              </a:lnSpc>
              <a:buFont typeface="Arial"/>
              <a:buChar char="•"/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Clarifier l’ETL pour gagner en efficacité</a:t>
            </a:r>
          </a:p>
          <a:p>
            <a:pPr algn="l" marL="755654" indent="-377827" lvl="1">
              <a:lnSpc>
                <a:spcPts val="5565"/>
              </a:lnSpc>
              <a:buFont typeface="Arial"/>
              <a:buChar char="•"/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Améliorer la requête SQL de récupération des données pour éviter les erreurs</a:t>
            </a:r>
          </a:p>
          <a:p>
            <a:pPr algn="l" marL="755654" indent="-377827" lvl="1">
              <a:lnSpc>
                <a:spcPts val="5565"/>
              </a:lnSpc>
              <a:buFont typeface="Arial"/>
              <a:buChar char="•"/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Ajouter plus de logs pour tracker l’évolution de la pipeline et les erreurs éventuelles</a:t>
            </a:r>
          </a:p>
          <a:p>
            <a:pPr algn="l" marL="755654" indent="-377827" lvl="1">
              <a:lnSpc>
                <a:spcPts val="5565"/>
              </a:lnSpc>
              <a:buFont typeface="Arial"/>
              <a:buChar char="•"/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Paralléliser les 3 premiers traitements pour économiser du temps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342938"/>
            <a:ext cx="7903029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60"/>
              </a:lnSpc>
              <a:spcBef>
                <a:spcPct val="0"/>
              </a:spcBef>
            </a:pPr>
            <a:r>
              <a:rPr lang="en-US" sz="7000" spc="-55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PERFORMANCES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822333"/>
            <a:ext cx="3793765" cy="74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3"/>
              </a:lnSpc>
            </a:pPr>
            <a:r>
              <a:rPr lang="en-US" b="true" sz="3700" spc="-29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V1 - 2mn (Chrono)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34846" y="7822333"/>
            <a:ext cx="3793765" cy="74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3"/>
              </a:lnSpc>
            </a:pPr>
            <a:r>
              <a:rPr lang="en-US" b="true" sz="3700" spc="-29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V2 - 10 secondes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38411" y="7822333"/>
            <a:ext cx="3793765" cy="74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3"/>
              </a:lnSpc>
            </a:pPr>
            <a:r>
              <a:rPr lang="en-US" b="true" sz="3700" spc="-29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V3 - 6 secondes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70566"/>
            <a:ext cx="1725930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60"/>
              </a:lnSpc>
              <a:spcBef>
                <a:spcPct val="0"/>
              </a:spcBef>
            </a:pPr>
            <a:r>
              <a:rPr lang="en-US" sz="7000" spc="-55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08641" y="3571397"/>
            <a:ext cx="16899418" cy="3512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5"/>
              </a:lnSpc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Sont fournis et fonctionnels :</a:t>
            </a:r>
          </a:p>
          <a:p>
            <a:pPr algn="l" marL="755654" indent="-377827" lvl="1">
              <a:lnSpc>
                <a:spcPts val="5565"/>
              </a:lnSpc>
              <a:buFont typeface="Arial"/>
              <a:buChar char="•"/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Pipeline de données complète</a:t>
            </a:r>
          </a:p>
          <a:p>
            <a:pPr algn="l" marL="755654" indent="-377827" lvl="1">
              <a:lnSpc>
                <a:spcPts val="5565"/>
              </a:lnSpc>
              <a:buFont typeface="Arial"/>
              <a:buChar char="•"/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Documentation technique</a:t>
            </a:r>
          </a:p>
          <a:p>
            <a:pPr algn="l" marL="755654" indent="-377827" lvl="1">
              <a:lnSpc>
                <a:spcPts val="5565"/>
              </a:lnSpc>
              <a:buFont typeface="Arial"/>
              <a:buChar char="•"/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Présentation pour le client</a:t>
            </a:r>
          </a:p>
          <a:p>
            <a:pPr algn="l" marL="755654" indent="-377827" lvl="1">
              <a:lnSpc>
                <a:spcPts val="5565"/>
              </a:lnSpc>
              <a:buFont typeface="Arial"/>
              <a:buChar char="•"/>
            </a:pPr>
            <a:r>
              <a:rPr lang="en-US" sz="3500" spc="-2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 de données SQL + Diagramme de conception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50929" y="4597726"/>
            <a:ext cx="4986143" cy="1482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99"/>
              </a:lnSpc>
            </a:pPr>
            <a:r>
              <a:rPr lang="en-US" sz="9999" spc="-78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MERCI !</a:t>
            </a:r>
          </a:p>
          <a:p>
            <a:pPr algn="l" marL="0" indent="0" lvl="0">
              <a:lnSpc>
                <a:spcPts val="5580"/>
              </a:lnSpc>
            </a:pPr>
            <a:r>
              <a:rPr lang="en-US" sz="3600" spc="-2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DAG3WRk_WTc</dc:identifier>
  <dcterms:modified xsi:type="dcterms:W3CDTF">2011-08-01T06:04:30Z</dcterms:modified>
  <cp:revision>1</cp:revision>
  <dc:title>ETL - S10 Rendu Final</dc:title>
</cp:coreProperties>
</file>